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3291840"/>
            <a:ext cx="4023360" cy="4023360"/>
          </a:xfrm>
          <a:prstGeom prst="ellipse">
            <a:avLst/>
          </a:prstGeom>
          <a:solidFill>
            <a:srgbClr val="EAF6FB"/>
          </a:solidFill>
          <a:ln/>
        </p:spPr>
      </p:sp>
      <p:sp>
        <p:nvSpPr>
          <p:cNvPr id="5" name="Shape 1"/>
          <p:cNvSpPr/>
          <p:nvPr/>
        </p:nvSpPr>
        <p:spPr>
          <a:xfrm>
            <a:off x="9464040" y="3977640"/>
            <a:ext cx="2651760" cy="2651760"/>
          </a:xfrm>
          <a:prstGeom prst="ellipse">
            <a:avLst/>
          </a:prstGeom>
          <a:solidFill>
            <a:srgbClr val="D7EEF6"/>
          </a:solidFill>
          <a:ln/>
        </p:spPr>
      </p:sp>
      <p:sp>
        <p:nvSpPr>
          <p:cNvPr id="6" name="Shape 2"/>
          <p:cNvSpPr/>
          <p:nvPr/>
        </p:nvSpPr>
        <p:spPr>
          <a:xfrm>
            <a:off x="10104120" y="4617720"/>
            <a:ext cx="1371600" cy="1371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SAVEETHA UNIVERSITY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Seminar Presentation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3774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COMPUTER VISION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22960" y="434340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6634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
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Dhanushree S  |  Reg. No: 192421218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
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T.M. Usha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•  OVERVIEW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the Emerging Technology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822960" y="205740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is a subset of Machine Learning that uses multi-layered artificial neural networks to learn patterns directly from raw data.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Vision is the field of Artificial Intelligence that enables machines to interpret and understand visual information from images and videos.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 combines these two fields, allowing machines to automatically learn visual features instead of relying on hand-crafted rules.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powers modern applications such as facial recognition, self-driving cars, medical image diagnosis, and industrial automation.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635240" y="2057400"/>
            <a:ext cx="3749040" cy="3749040"/>
          </a:xfrm>
          <a:prstGeom prst="ellipse">
            <a:avLst/>
          </a:prstGeom>
          <a:solidFill>
            <a:srgbClr val="EAF6FB"/>
          </a:solidFill>
          <a:ln/>
        </p:spPr>
      </p:sp>
      <p:sp>
        <p:nvSpPr>
          <p:cNvPr id="8" name="Shape 4"/>
          <p:cNvSpPr/>
          <p:nvPr/>
        </p:nvSpPr>
        <p:spPr>
          <a:xfrm>
            <a:off x="8092440" y="2514600"/>
            <a:ext cx="2834640" cy="2834640"/>
          </a:xfrm>
          <a:prstGeom prst="ellipse">
            <a:avLst/>
          </a:prstGeom>
          <a:solidFill>
            <a:srgbClr val="CBE9F4"/>
          </a:solidFill>
          <a:ln/>
        </p:spPr>
      </p:sp>
      <p:sp>
        <p:nvSpPr>
          <p:cNvPr id="9" name="Shape 5"/>
          <p:cNvSpPr/>
          <p:nvPr/>
        </p:nvSpPr>
        <p:spPr>
          <a:xfrm>
            <a:off x="8549640" y="2971800"/>
            <a:ext cx="1920240" cy="1920240"/>
          </a:xfrm>
          <a:prstGeom prst="ellipse">
            <a:avLst/>
          </a:prstGeom>
          <a:solidFill>
            <a:srgbClr val="8FD6EC"/>
          </a:solidFill>
          <a:ln/>
        </p:spPr>
      </p:sp>
      <p:sp>
        <p:nvSpPr>
          <p:cNvPr id="10" name="Shape 6"/>
          <p:cNvSpPr/>
          <p:nvPr/>
        </p:nvSpPr>
        <p:spPr>
          <a:xfrm>
            <a:off x="9006840" y="342900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7"/>
          <p:cNvSpPr/>
          <p:nvPr/>
        </p:nvSpPr>
        <p:spPr>
          <a:xfrm>
            <a:off x="9006840" y="36118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406640" y="5989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 →  Features  →  Prediction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•  WHY DEEP LEARNING?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and Motivation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05740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4F9FB"/>
          </a:solidFill>
          <a:ln/>
        </p:spPr>
      </p:sp>
      <p:sp>
        <p:nvSpPr>
          <p:cNvPr id="7" name="Shape 3"/>
          <p:cNvSpPr/>
          <p:nvPr/>
        </p:nvSpPr>
        <p:spPr>
          <a:xfrm>
            <a:off x="1051560" y="22860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4"/>
          <p:cNvSpPr/>
          <p:nvPr/>
        </p:nvSpPr>
        <p:spPr>
          <a:xfrm>
            <a:off x="10515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9164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Traditional Vision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91640" y="258775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computer vision relies on hand-engineered features (edges, corners, textures) that fail to generalize across lighting, angle, and background changes.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55080" y="205740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4F9FB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0" y="22860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22376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Explosion of Visual Data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23760" y="258775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Billions of images and videos are generated daily via smartphones, CCTV, and sensors — far beyond what manual rule-based systems can process.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" y="402336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4F9FB"/>
          </a:solidFill>
          <a:ln/>
        </p:spPr>
      </p:sp>
      <p:sp>
        <p:nvSpPr>
          <p:cNvPr id="17" name="Shape 13"/>
          <p:cNvSpPr/>
          <p:nvPr/>
        </p:nvSpPr>
        <p:spPr>
          <a:xfrm>
            <a:off x="1051560" y="425196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8" name="Text 14"/>
          <p:cNvSpPr/>
          <p:nvPr/>
        </p:nvSpPr>
        <p:spPr>
          <a:xfrm>
            <a:off x="10515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6916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for Human-Level Accuracy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691640" y="45537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like medical diagnosis and autonomous driving demand near-human accuracy and reliability in perception.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355080" y="402336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4F9FB"/>
          </a:solidFill>
          <a:ln/>
        </p:spPr>
      </p:sp>
      <p:sp>
        <p:nvSpPr>
          <p:cNvPr id="22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22376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of Compute &amp; Data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223760" y="45537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GPUs, TPUs, and large labeled datasets (e.g., ImageNet) made it feasible to train very deep networks efficiently.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•  HOW IT WORKS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Principle / Architecture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AF6FB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2651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697480" y="26517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953512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CBE9F4"/>
          </a:solidFill>
          <a:ln/>
        </p:spPr>
      </p:sp>
      <p:sp>
        <p:nvSpPr>
          <p:cNvPr id="10" name="Text 6"/>
          <p:cNvSpPr/>
          <p:nvPr/>
        </p:nvSpPr>
        <p:spPr>
          <a:xfrm>
            <a:off x="2953512" y="2651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28032" y="26517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084064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8FD6EC"/>
          </a:solidFill>
          <a:ln/>
        </p:spPr>
      </p:sp>
      <p:sp>
        <p:nvSpPr>
          <p:cNvPr id="13" name="Text 9"/>
          <p:cNvSpPr/>
          <p:nvPr/>
        </p:nvSpPr>
        <p:spPr>
          <a:xfrm>
            <a:off x="5084064" y="2651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58584" y="26517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214616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0B4D8"/>
          </a:solidFill>
          <a:ln/>
        </p:spPr>
      </p:sp>
      <p:sp>
        <p:nvSpPr>
          <p:cNvPr id="16" name="Text 12"/>
          <p:cNvSpPr/>
          <p:nvPr/>
        </p:nvSpPr>
        <p:spPr>
          <a:xfrm>
            <a:off x="7214616" y="2651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089136" y="26517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9345168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19" name="Text 15"/>
          <p:cNvSpPr/>
          <p:nvPr/>
        </p:nvSpPr>
        <p:spPr>
          <a:xfrm>
            <a:off x="9345168" y="2651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(Class/Label)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" y="4389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extraction: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Convolutional layers scan the image with learnable filters to detect edges, textures, and shapes at increasing levels of abstraction.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Dimensionality reduction: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Pooling layers down-sample feature maps, keeping the most important information while reducing computation.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connected layers combine extracted features and a final activation (e.g., Softmax) produces the prediction.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•  BUILDING BLOCKS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Components and Technologies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10312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</p:spPr>
      </p:sp>
      <p:sp>
        <p:nvSpPr>
          <p:cNvPr id="7" name="Shape 3"/>
          <p:cNvSpPr/>
          <p:nvPr/>
        </p:nvSpPr>
        <p:spPr>
          <a:xfrm>
            <a:off x="1051560" y="23042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4"/>
          <p:cNvSpPr/>
          <p:nvPr/>
        </p:nvSpPr>
        <p:spPr>
          <a:xfrm>
            <a:off x="160020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78992" y="281635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Convolutional Neural Networks — the core architecture for image feature extraction.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25696" y="210312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54296" y="23042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8"/>
          <p:cNvSpPr/>
          <p:nvPr/>
        </p:nvSpPr>
        <p:spPr>
          <a:xfrm>
            <a:off x="5202936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RNN / LSTM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81728" y="281635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for sequential visual data such as video frames and captioning.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28432" y="210312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57032" y="23042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2"/>
          <p:cNvSpPr/>
          <p:nvPr/>
        </p:nvSpPr>
        <p:spPr>
          <a:xfrm>
            <a:off x="8805672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 Transformers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84464" y="281635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Attention-based models (ViT) that treat images as sequences of patches.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2960" y="4142232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</p:spPr>
      </p:sp>
      <p:sp>
        <p:nvSpPr>
          <p:cNvPr id="19" name="Shape 15"/>
          <p:cNvSpPr/>
          <p:nvPr/>
        </p:nvSpPr>
        <p:spPr>
          <a:xfrm>
            <a:off x="1051560" y="43434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6"/>
          <p:cNvSpPr/>
          <p:nvPr/>
        </p:nvSpPr>
        <p:spPr>
          <a:xfrm>
            <a:off x="1600200" y="4325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GPUs / TPUs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078992" y="4855464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hardware accelerators that make training deep networks feasible.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425696" y="4142232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</p:spPr>
      </p:sp>
      <p:sp>
        <p:nvSpPr>
          <p:cNvPr id="23" name="Shape 19"/>
          <p:cNvSpPr/>
          <p:nvPr/>
        </p:nvSpPr>
        <p:spPr>
          <a:xfrm>
            <a:off x="4654296" y="43434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0"/>
          <p:cNvSpPr/>
          <p:nvPr/>
        </p:nvSpPr>
        <p:spPr>
          <a:xfrm>
            <a:off x="5202936" y="4325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681728" y="4855464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TensorFlow, PyTorch, and Keras provide tools to build and train models.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28432" y="4142232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</p:spPr>
      </p:sp>
      <p:sp>
        <p:nvSpPr>
          <p:cNvPr id="27" name="Shape 23"/>
          <p:cNvSpPr/>
          <p:nvPr/>
        </p:nvSpPr>
        <p:spPr>
          <a:xfrm>
            <a:off x="8257032" y="43434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8" name="Text 24"/>
          <p:cNvSpPr/>
          <p:nvPr/>
        </p:nvSpPr>
        <p:spPr>
          <a:xfrm>
            <a:off x="8805672" y="4325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Datasets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284464" y="4855464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ImageNet, COCO, and CIFAR provide labeled data for training and benchmarking.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•  WHERE IT'S USED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/ Real-World Use Cases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1488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4F9FB"/>
          </a:solidFill>
          <a:ln/>
        </p:spPr>
      </p:sp>
      <p:sp>
        <p:nvSpPr>
          <p:cNvPr id="7" name="Shape 3"/>
          <p:cNvSpPr/>
          <p:nvPr/>
        </p:nvSpPr>
        <p:spPr>
          <a:xfrm>
            <a:off x="1024128" y="2327148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8" name="Text 4"/>
          <p:cNvSpPr/>
          <p:nvPr/>
        </p:nvSpPr>
        <p:spPr>
          <a:xfrm>
            <a:off x="1024128" y="23271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737360" y="2148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Recognition &amp; Biometric Security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63640" y="21488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4F9FB"/>
          </a:solidFill>
          <a:ln/>
        </p:spPr>
      </p:sp>
      <p:sp>
        <p:nvSpPr>
          <p:cNvPr id="11" name="Shape 7"/>
          <p:cNvSpPr/>
          <p:nvPr/>
        </p:nvSpPr>
        <p:spPr>
          <a:xfrm>
            <a:off x="6464808" y="2327148"/>
            <a:ext cx="512064" cy="512064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2" name="Text 8"/>
          <p:cNvSpPr/>
          <p:nvPr/>
        </p:nvSpPr>
        <p:spPr>
          <a:xfrm>
            <a:off x="6464808" y="23271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1488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Vehicles &amp; ADAS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22960" y="336499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4F9FB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4128" y="3543300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6" name="Text 12"/>
          <p:cNvSpPr/>
          <p:nvPr/>
        </p:nvSpPr>
        <p:spPr>
          <a:xfrm>
            <a:off x="1024128" y="35433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737360" y="33649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Image Diagnosis (X-ray, MRI, CT)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263640" y="336499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4F9FB"/>
          </a:solidFill>
          <a:ln/>
        </p:spPr>
      </p:sp>
      <p:sp>
        <p:nvSpPr>
          <p:cNvPr id="19" name="Shape 15"/>
          <p:cNvSpPr/>
          <p:nvPr/>
        </p:nvSpPr>
        <p:spPr>
          <a:xfrm>
            <a:off x="6464808" y="3543300"/>
            <a:ext cx="512064" cy="512064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20" name="Text 16"/>
          <p:cNvSpPr/>
          <p:nvPr/>
        </p:nvSpPr>
        <p:spPr>
          <a:xfrm>
            <a:off x="6464808" y="35433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78040" y="33649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Defect Detection &amp; Quality Control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822960" y="458114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4F9FB"/>
          </a:solidFill>
          <a:ln/>
        </p:spPr>
      </p:sp>
      <p:sp>
        <p:nvSpPr>
          <p:cNvPr id="23" name="Shape 19"/>
          <p:cNvSpPr/>
          <p:nvPr/>
        </p:nvSpPr>
        <p:spPr>
          <a:xfrm>
            <a:off x="1024128" y="4759452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4" name="Text 20"/>
          <p:cNvSpPr/>
          <p:nvPr/>
        </p:nvSpPr>
        <p:spPr>
          <a:xfrm>
            <a:off x="1024128" y="47594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737360" y="458114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Surveillance &amp; Anomaly Detection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6263640" y="458114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4F9FB"/>
          </a:solidFill>
          <a:ln/>
        </p:spPr>
      </p:sp>
      <p:sp>
        <p:nvSpPr>
          <p:cNvPr id="27" name="Shape 23"/>
          <p:cNvSpPr/>
          <p:nvPr/>
        </p:nvSpPr>
        <p:spPr>
          <a:xfrm>
            <a:off x="6464808" y="4759452"/>
            <a:ext cx="512064" cy="512064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28" name="Text 24"/>
          <p:cNvSpPr/>
          <p:nvPr/>
        </p:nvSpPr>
        <p:spPr>
          <a:xfrm>
            <a:off x="6464808" y="47594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178040" y="458114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Augmented &amp; Virtual Reality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•  TRADE-OFFS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 and Limitations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05740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E9F8F1"/>
          </a:solidFill>
          <a:ln/>
        </p:spPr>
      </p:sp>
      <p:sp>
        <p:nvSpPr>
          <p:cNvPr id="7" name="Shape 3"/>
          <p:cNvSpPr/>
          <p:nvPr/>
        </p:nvSpPr>
        <p:spPr>
          <a:xfrm>
            <a:off x="6172200" y="205740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FBEBE6"/>
          </a:solidFill>
          <a:ln/>
        </p:spPr>
      </p:sp>
      <p:sp>
        <p:nvSpPr>
          <p:cNvPr id="8" name="Text 4"/>
          <p:cNvSpPr/>
          <p:nvPr/>
        </p:nvSpPr>
        <p:spPr>
          <a:xfrm>
            <a:off x="1051560" y="2240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51560" y="269748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learns relevant features — no manual feature engineering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Achieves state-of-the-art, often human-level, accuracy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well with more data and compute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Generalizes across varied lighting, angles, and backgrounds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 enables reuse of pre-trained models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0" y="2240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7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0" y="269748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large volumes of labeled training data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computational and energy cost for training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Acts as a "black box" — limited interpretability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Vulnerable to adversarial attacks and bias in data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Struggles to generalize to unseen, out-of-distribution scenes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•  TIMELINE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Developments and Trends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1188720" y="3931920"/>
            <a:ext cx="9784080" cy="0"/>
          </a:xfrm>
          <a:prstGeom prst="line">
            <a:avLst/>
          </a:prstGeom>
          <a:noFill/>
          <a:ln w="38100">
            <a:solidFill>
              <a:srgbClr val="C7DD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60704" y="3803904"/>
            <a:ext cx="256032" cy="256032"/>
          </a:xfrm>
          <a:prstGeom prst="ellipse">
            <a:avLst/>
          </a:prstGeom>
          <a:solidFill>
            <a:srgbClr val="0096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43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AlexNet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82880" y="3429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CNN wins ImageNet, sparking the deep learning boom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506724" y="3803904"/>
            <a:ext cx="256032" cy="256032"/>
          </a:xfrm>
          <a:prstGeom prst="ellipse">
            <a:avLst/>
          </a:prstGeom>
          <a:solidFill>
            <a:srgbClr val="0096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4894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2034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28900" y="4800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 connections enable training of very deep networks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52744" y="3803904"/>
            <a:ext cx="256032" cy="256032"/>
          </a:xfrm>
          <a:prstGeom prst="ellipse">
            <a:avLst/>
          </a:prstGeom>
          <a:solidFill>
            <a:srgbClr val="0096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9496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2020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6636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 Transformer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74920" y="3429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Attention-based models rival CNNs on vision tasks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398764" y="3803904"/>
            <a:ext cx="256032" cy="256032"/>
          </a:xfrm>
          <a:prstGeom prst="ellipse">
            <a:avLst/>
          </a:prstGeom>
          <a:solidFill>
            <a:srgbClr val="0096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4098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2022+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61238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Diffusion Models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520940" y="4800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Powering high-quality image generation and editing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0844784" y="3803904"/>
            <a:ext cx="256032" cy="256032"/>
          </a:xfrm>
          <a:prstGeom prst="ellipse">
            <a:avLst/>
          </a:prstGeom>
          <a:solidFill>
            <a:srgbClr val="0096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28700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2023+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0584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 Models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966960" y="3429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multimodal vision-language models (e.g., CLIP, SAM)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•  ROAD AHEAD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and Future Scope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0116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BEBE6"/>
          </a:solidFill>
          <a:ln/>
        </p:spPr>
      </p:sp>
      <p:sp>
        <p:nvSpPr>
          <p:cNvPr id="7" name="Text 3"/>
          <p:cNvSpPr/>
          <p:nvPr/>
        </p:nvSpPr>
        <p:spPr>
          <a:xfrm>
            <a:off x="109728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7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7280" y="26974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privacy and consent in visual data collection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and fairness across demographic groups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computation &amp; energy requirements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explainability of model decisions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172200" y="201168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E9F8F1"/>
          </a:solidFill>
          <a:ln/>
        </p:spPr>
      </p:sp>
      <p:sp>
        <p:nvSpPr>
          <p:cNvPr id="10" name="Text 6"/>
          <p:cNvSpPr/>
          <p:nvPr/>
        </p:nvSpPr>
        <p:spPr>
          <a:xfrm>
            <a:off x="644652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46520" y="269748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Efficient, low-power models for edge &amp; mobile devices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Self-supervised and few-shot learning to reduce labeling need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AI for transparent, trustworthy vision systems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40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models combining vision, language, and reasoning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 •  IN PRACTICE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Study / Example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22960" y="20116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3294B"/>
          </a:solidFill>
          <a:ln/>
        </p:spPr>
      </p:sp>
      <p:sp>
        <p:nvSpPr>
          <p:cNvPr id="7" name="Text 3"/>
          <p:cNvSpPr/>
          <p:nvPr/>
        </p:nvSpPr>
        <p:spPr>
          <a:xfrm>
            <a:off x="1097280" y="201168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Skin Cancer Detection using Deep Convolutional Networks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22960" y="3337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4F9FB"/>
          </a:solidFill>
          <a:ln/>
        </p:spPr>
      </p:sp>
      <p:sp>
        <p:nvSpPr>
          <p:cNvPr id="9" name="Shape 5"/>
          <p:cNvSpPr/>
          <p:nvPr/>
        </p:nvSpPr>
        <p:spPr>
          <a:xfrm>
            <a:off x="1824228" y="353872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6"/>
          <p:cNvSpPr/>
          <p:nvPr/>
        </p:nvSpPr>
        <p:spPr>
          <a:xfrm>
            <a:off x="1824228" y="3538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4160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4526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Thousands of dermoscopic skin lesion images labeled benign or malignant.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37560" y="3337560"/>
            <a:ext cx="201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538728" y="3337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4F9FB"/>
          </a:solidFill>
          <a:ln/>
        </p:spPr>
      </p:sp>
      <p:sp>
        <p:nvSpPr>
          <p:cNvPr id="15" name="Shape 11"/>
          <p:cNvSpPr/>
          <p:nvPr/>
        </p:nvSpPr>
        <p:spPr>
          <a:xfrm>
            <a:off x="4539996" y="353872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2"/>
          <p:cNvSpPr/>
          <p:nvPr/>
        </p:nvSpPr>
        <p:spPr>
          <a:xfrm>
            <a:off x="4539996" y="3538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75888" y="4160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721608" y="4526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deep CNN (e.g., trained on ImageNet, fine-tuned) learns to classify lesion images.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053328" y="3337560"/>
            <a:ext cx="201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54496" y="3337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4F9FB"/>
          </a:solidFill>
          <a:ln/>
        </p:spPr>
      </p:sp>
      <p:sp>
        <p:nvSpPr>
          <p:cNvPr id="21" name="Shape 17"/>
          <p:cNvSpPr/>
          <p:nvPr/>
        </p:nvSpPr>
        <p:spPr>
          <a:xfrm>
            <a:off x="7255764" y="353872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8"/>
          <p:cNvSpPr/>
          <p:nvPr/>
        </p:nvSpPr>
        <p:spPr>
          <a:xfrm>
            <a:off x="7255764" y="3538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391656" y="4160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37376" y="4526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accuracy compared against certified dermatologists on test images.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769096" y="3337560"/>
            <a:ext cx="201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970264" y="33375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4F9FB"/>
          </a:solidFill>
          <a:ln/>
        </p:spPr>
      </p:sp>
      <p:sp>
        <p:nvSpPr>
          <p:cNvPr id="27" name="Shape 23"/>
          <p:cNvSpPr/>
          <p:nvPr/>
        </p:nvSpPr>
        <p:spPr>
          <a:xfrm>
            <a:off x="9971532" y="3538728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8" name="Text 24"/>
          <p:cNvSpPr/>
          <p:nvPr/>
        </p:nvSpPr>
        <p:spPr>
          <a:xfrm>
            <a:off x="9971532" y="35387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9107424" y="4160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9153144" y="4526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models matched or exceeded expert-level diagnostic accuracy.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566928" cy="566928"/>
          </a:xfrm>
          <a:prstGeom prst="rect">
            <a:avLst/>
          </a:prstGeom>
        </p:spPr>
      </p:pic>
      <p:pic>
        <p:nvPicPr>
          <p:cNvPr id="3" name="Image 1" descr="SAVEET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2011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96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 •  WRAP UP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11338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References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822960" y="2011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22960" y="2423160"/>
            <a:ext cx="5852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has transformed Computer Vision from rule-based systems to data-driven, self-learning models.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delivers high accuracy across diverse real-world applications, from healthcare to autonomous systems.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Ongoing research in efficiency, fairness, and explainability will shape its next phase of growth.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995160" y="2011680"/>
            <a:ext cx="4343400" cy="4023360"/>
          </a:xfrm>
          <a:prstGeom prst="roundRect">
            <a:avLst>
              <a:gd name="adj" fmla="val 1818"/>
            </a:avLst>
          </a:prstGeom>
          <a:solidFill>
            <a:srgbClr val="F4F9FB"/>
          </a:solidFill>
          <a:ln/>
        </p:spPr>
      </p:sp>
      <p:sp>
        <p:nvSpPr>
          <p:cNvPr id="9" name="Text 5"/>
          <p:cNvSpPr/>
          <p:nvPr/>
        </p:nvSpPr>
        <p:spPr>
          <a:xfrm>
            <a:off x="72694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26948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Krizhevsky, A. et al. (2012). ImageNet Classification with Deep CNNs. NeurIPS.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He, K. et al. (2016). Deep Residual Learning for Image Recognition. CVPR.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Dosovitskiy, A. et al. (2020). An Image is Worth 16x16 Words (ViT). ICLR.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Goodfellow, I., Bengio, Y., Courville, A. (2016). Deep Learning. MIT Press.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Esteva, A. et al. (2017). Dermatologist-level classification of skin cancer with deep neural networks. Nature.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for Computer Vision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2026-08-24T04:36:03Z</dcterms:created>
  <dcterms:modified xsi:type="dcterms:W3CDTF">2026-08-24T04:36:03Z</dcterms:modified>
</cp:coreProperties>
</file>